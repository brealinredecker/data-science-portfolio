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ontserrat"/>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Lato-regular.fntdata"/><Relationship Id="rId23"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d18e2691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d18e2691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d150f5e0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d150f5e0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d18e2691d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d18e2691d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d18e2691d1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d18e2691d1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d18e2691d1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d18e2691d1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d18e2691d1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d18e2691d1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d18e2691d1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d18e2691d1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d1cd409d4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d1cd409d4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d18e2691d1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d18e2691d1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d18e2691d1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d18e2691d1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d18e2691d1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d18e2691d1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d18e2691d1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d18e2691d1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d18e2691d1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d18e2691d1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Energy Usage In SC</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Brealin Redecker and Griffin Schwartz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Business Questions:</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a:t>
            </a:r>
            <a:r>
              <a:rPr lang="en"/>
              <a:t>energy company known as eSC, which supplies electricity to homes in South Carolina and parts of North Carolina. eSC is increasingly concerned about the effects of global warming, particularly its potential to raise the demand for electricity. They are particularly worried that the next summer might overwhelm their electrical grid—essentially, their capacity to deliver power to customers who need to cool their homes. This surge in demand could lead to blackouts, which eSC is keen to avoid. To address these concerns, the company is focusing on understanding potential energy consumption during an unusually hot summer, with specific attention to the month of July, which they believe is typically the peak period for energy use.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Overview of Data</a:t>
            </a:r>
            <a:endParaRPr/>
          </a:p>
        </p:txBody>
      </p:sp>
      <p:sp>
        <p:nvSpPr>
          <p:cNvPr id="147" name="Google Shape;147;p15"/>
          <p:cNvSpPr txBox="1"/>
          <p:nvPr>
            <p:ph idx="1" type="body"/>
          </p:nvPr>
        </p:nvSpPr>
        <p:spPr>
          <a:xfrm>
            <a:off x="311700" y="1438225"/>
            <a:ext cx="8520600" cy="22629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150 Different Buildings Energy Usage</a:t>
            </a:r>
            <a:endParaRPr sz="1500"/>
          </a:p>
          <a:p>
            <a:pPr indent="-323850" lvl="0" marL="457200" rtl="0" algn="l">
              <a:spcBef>
                <a:spcPts val="0"/>
              </a:spcBef>
              <a:spcAft>
                <a:spcPts val="0"/>
              </a:spcAft>
              <a:buSzPts val="1500"/>
              <a:buChar char="●"/>
            </a:pPr>
            <a:r>
              <a:rPr lang="en" sz="1500"/>
              <a:t>50 Different Counties for Weather</a:t>
            </a:r>
            <a:endParaRPr sz="1500"/>
          </a:p>
          <a:p>
            <a:pPr indent="-323850" lvl="0" marL="457200" rtl="0" algn="l">
              <a:spcBef>
                <a:spcPts val="0"/>
              </a:spcBef>
              <a:spcAft>
                <a:spcPts val="0"/>
              </a:spcAft>
              <a:buSzPts val="1500"/>
              <a:buChar char="●"/>
            </a:pPr>
            <a:r>
              <a:rPr lang="en" sz="1500"/>
              <a:t>228 Variables</a:t>
            </a:r>
            <a:endParaRPr sz="1500"/>
          </a:p>
          <a:p>
            <a:pPr indent="-323850" lvl="0" marL="457200" rtl="0" algn="l">
              <a:spcBef>
                <a:spcPts val="0"/>
              </a:spcBef>
              <a:spcAft>
                <a:spcPts val="0"/>
              </a:spcAft>
              <a:buSzPts val="1500"/>
              <a:buChar char="●"/>
            </a:pPr>
            <a:r>
              <a:rPr lang="en" sz="1500"/>
              <a:t>July 1st through 31st</a:t>
            </a:r>
            <a:endParaRPr sz="1500"/>
          </a:p>
          <a:p>
            <a:pPr indent="-323850" lvl="0" marL="457200" rtl="0" algn="l">
              <a:spcBef>
                <a:spcPts val="0"/>
              </a:spcBef>
              <a:spcAft>
                <a:spcPts val="0"/>
              </a:spcAft>
              <a:buSzPts val="1500"/>
              <a:buChar char="●"/>
            </a:pPr>
            <a:r>
              <a:rPr lang="en" sz="1500"/>
              <a:t>Specifically 2pm (or 1400)</a:t>
            </a:r>
            <a:endParaRPr sz="1500"/>
          </a:p>
          <a:p>
            <a:pPr indent="0" lvl="0" marL="0" rtl="0" algn="l">
              <a:spcBef>
                <a:spcPts val="1200"/>
              </a:spcBef>
              <a:spcAft>
                <a:spcPts val="1200"/>
              </a:spcAft>
              <a:buNone/>
            </a:pPr>
            <a:r>
              <a:rPr lang="en" sz="1500"/>
              <a:t>Using these specifications we ended up with 4650 observations and 228 variables in our data.</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Models</a:t>
            </a:r>
            <a:endParaRPr/>
          </a:p>
        </p:txBody>
      </p:sp>
      <p:sp>
        <p:nvSpPr>
          <p:cNvPr id="153" name="Google Shape;153;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our exploration of all of our data we used 5 different models. First we explored linear regression models under 3 different categories: building infrastructure, appliance usage, and weather. In our data we decided to use 1400, or 2pm, to determine our data. This is our summary for our_data$month_total_electricity_usage which is what we want to predict throughout our models.</a:t>
            </a:r>
            <a:endParaRPr/>
          </a:p>
          <a:p>
            <a:pPr indent="0" lvl="0" marL="0" rtl="0" algn="l">
              <a:spcBef>
                <a:spcPts val="1200"/>
              </a:spcBef>
              <a:spcAft>
                <a:spcPts val="1200"/>
              </a:spcAft>
              <a:buNone/>
            </a:pPr>
            <a:r>
              <a:t/>
            </a:r>
            <a:endParaRPr/>
          </a:p>
        </p:txBody>
      </p:sp>
      <p:pic>
        <p:nvPicPr>
          <p:cNvPr id="154" name="Google Shape;154;p16"/>
          <p:cNvPicPr preferRelativeResize="0"/>
          <p:nvPr/>
        </p:nvPicPr>
        <p:blipFill>
          <a:blip r:embed="rId3">
            <a:alphaModFix/>
          </a:blip>
          <a:stretch>
            <a:fillRect/>
          </a:stretch>
        </p:blipFill>
        <p:spPr>
          <a:xfrm>
            <a:off x="1690688" y="3295650"/>
            <a:ext cx="5762625" cy="942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63875"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1</a:t>
            </a:r>
            <a:endParaRPr/>
          </a:p>
        </p:txBody>
      </p:sp>
      <p:sp>
        <p:nvSpPr>
          <p:cNvPr id="160" name="Google Shape;160;p17"/>
          <p:cNvSpPr txBox="1"/>
          <p:nvPr>
            <p:ph idx="1" type="body"/>
          </p:nvPr>
        </p:nvSpPr>
        <p:spPr>
          <a:xfrm>
            <a:off x="74050" y="1307850"/>
            <a:ext cx="2634900" cy="3835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t>Model 1 represents variables that have to do with essential building information and see what effect that they have on the total energy usage for the month.</a:t>
            </a:r>
            <a:endParaRPr sz="1800"/>
          </a:p>
          <a:p>
            <a:pPr indent="0" lvl="0" marL="0" rtl="0" algn="l">
              <a:lnSpc>
                <a:spcPct val="100000"/>
              </a:lnSpc>
              <a:spcBef>
                <a:spcPts val="1200"/>
              </a:spcBef>
              <a:spcAft>
                <a:spcPts val="0"/>
              </a:spcAft>
              <a:buNone/>
            </a:pPr>
            <a:r>
              <a:t/>
            </a:r>
            <a:endParaRPr sz="1700"/>
          </a:p>
          <a:p>
            <a:pPr indent="0" lvl="0" marL="0" rtl="0" algn="l">
              <a:lnSpc>
                <a:spcPct val="100000"/>
              </a:lnSpc>
              <a:spcBef>
                <a:spcPts val="1200"/>
              </a:spcBef>
              <a:spcAft>
                <a:spcPts val="0"/>
              </a:spcAft>
              <a:buNone/>
            </a:pPr>
            <a:r>
              <a:t/>
            </a:r>
            <a:endParaRPr sz="1700"/>
          </a:p>
          <a:p>
            <a:pPr indent="0" lvl="0" marL="0" rtl="0" algn="l">
              <a:lnSpc>
                <a:spcPct val="100000"/>
              </a:lnSpc>
              <a:spcBef>
                <a:spcPts val="1200"/>
              </a:spcBef>
              <a:spcAft>
                <a:spcPts val="0"/>
              </a:spcAft>
              <a:buNone/>
            </a:pPr>
            <a:r>
              <a:t/>
            </a:r>
            <a:endParaRPr sz="1700"/>
          </a:p>
          <a:p>
            <a:pPr indent="0" lvl="0" marL="0" rtl="0" algn="l">
              <a:lnSpc>
                <a:spcPct val="100000"/>
              </a:lnSpc>
              <a:spcBef>
                <a:spcPts val="1200"/>
              </a:spcBef>
              <a:spcAft>
                <a:spcPts val="0"/>
              </a:spcAft>
              <a:buNone/>
            </a:pPr>
            <a:r>
              <a:t/>
            </a:r>
            <a:endParaRPr sz="1700"/>
          </a:p>
          <a:p>
            <a:pPr indent="0" lvl="0" marL="0" rtl="0" algn="l">
              <a:lnSpc>
                <a:spcPct val="100000"/>
              </a:lnSpc>
              <a:spcBef>
                <a:spcPts val="1200"/>
              </a:spcBef>
              <a:spcAft>
                <a:spcPts val="0"/>
              </a:spcAft>
              <a:buNone/>
            </a:pPr>
            <a:r>
              <a:t/>
            </a:r>
            <a:endParaRPr sz="1700"/>
          </a:p>
          <a:p>
            <a:pPr indent="0" lvl="0" marL="0" rtl="0" algn="l">
              <a:lnSpc>
                <a:spcPct val="100000"/>
              </a:lnSpc>
              <a:spcBef>
                <a:spcPts val="1200"/>
              </a:spcBef>
              <a:spcAft>
                <a:spcPts val="1200"/>
              </a:spcAft>
              <a:buNone/>
            </a:pPr>
            <a:r>
              <a:t/>
            </a:r>
            <a:endParaRPr sz="1700"/>
          </a:p>
        </p:txBody>
      </p:sp>
      <p:pic>
        <p:nvPicPr>
          <p:cNvPr id="161" name="Google Shape;161;p17"/>
          <p:cNvPicPr preferRelativeResize="0"/>
          <p:nvPr/>
        </p:nvPicPr>
        <p:blipFill>
          <a:blip r:embed="rId3">
            <a:alphaModFix/>
          </a:blip>
          <a:stretch>
            <a:fillRect/>
          </a:stretch>
        </p:blipFill>
        <p:spPr>
          <a:xfrm>
            <a:off x="3330950" y="1603300"/>
            <a:ext cx="5813051" cy="3540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2</a:t>
            </a:r>
            <a:endParaRPr/>
          </a:p>
        </p:txBody>
      </p:sp>
      <p:sp>
        <p:nvSpPr>
          <p:cNvPr id="167" name="Google Shape;167;p18"/>
          <p:cNvSpPr txBox="1"/>
          <p:nvPr>
            <p:ph idx="1" type="body"/>
          </p:nvPr>
        </p:nvSpPr>
        <p:spPr>
          <a:xfrm>
            <a:off x="0" y="1636800"/>
            <a:ext cx="3600000" cy="3506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lang="en" sz="2100"/>
              <a:t>Model 2 represents variables that have to do with application usage and see what effect that they have on the total energy usage for the month.</a:t>
            </a:r>
            <a:endParaRPr sz="2100"/>
          </a:p>
          <a:p>
            <a:pPr indent="0" lvl="0" marL="0" rtl="0" algn="l">
              <a:lnSpc>
                <a:spcPct val="105000"/>
              </a:lnSpc>
              <a:spcBef>
                <a:spcPts val="1200"/>
              </a:spcBef>
              <a:spcAft>
                <a:spcPts val="0"/>
              </a:spcAft>
              <a:buSzPts val="523"/>
              <a:buNone/>
            </a:pPr>
            <a:r>
              <a:t/>
            </a:r>
            <a:endParaRPr sz="2100"/>
          </a:p>
          <a:p>
            <a:pPr indent="0" lvl="0" marL="0" rtl="0" algn="l">
              <a:lnSpc>
                <a:spcPct val="105000"/>
              </a:lnSpc>
              <a:spcBef>
                <a:spcPts val="1200"/>
              </a:spcBef>
              <a:spcAft>
                <a:spcPts val="0"/>
              </a:spcAft>
              <a:buNone/>
            </a:pPr>
            <a:r>
              <a:t/>
            </a:r>
            <a:endParaRPr sz="2100">
              <a:solidFill>
                <a:srgbClr val="ECECEC"/>
              </a:solidFill>
              <a:highlight>
                <a:srgbClr val="212121"/>
              </a:highlight>
            </a:endParaRPr>
          </a:p>
          <a:p>
            <a:pPr indent="0" lvl="0" marL="0" rtl="0" algn="l">
              <a:lnSpc>
                <a:spcPct val="105000"/>
              </a:lnSpc>
              <a:spcBef>
                <a:spcPts val="1200"/>
              </a:spcBef>
              <a:spcAft>
                <a:spcPts val="1200"/>
              </a:spcAft>
              <a:buSzPts val="523"/>
              <a:buNone/>
            </a:pPr>
            <a:r>
              <a:t/>
            </a:r>
            <a:endParaRPr sz="1918"/>
          </a:p>
        </p:txBody>
      </p:sp>
      <p:pic>
        <p:nvPicPr>
          <p:cNvPr id="168" name="Google Shape;168;p18"/>
          <p:cNvPicPr preferRelativeResize="0"/>
          <p:nvPr/>
        </p:nvPicPr>
        <p:blipFill>
          <a:blip r:embed="rId3">
            <a:alphaModFix/>
          </a:blip>
          <a:stretch>
            <a:fillRect/>
          </a:stretch>
        </p:blipFill>
        <p:spPr>
          <a:xfrm>
            <a:off x="3600000" y="2093715"/>
            <a:ext cx="5544000" cy="30497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1280675" y="41897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3</a:t>
            </a:r>
            <a:endParaRPr/>
          </a:p>
        </p:txBody>
      </p:sp>
      <p:sp>
        <p:nvSpPr>
          <p:cNvPr id="174" name="Google Shape;174;p19"/>
          <p:cNvSpPr txBox="1"/>
          <p:nvPr>
            <p:ph idx="1" type="body"/>
          </p:nvPr>
        </p:nvSpPr>
        <p:spPr>
          <a:xfrm>
            <a:off x="0" y="1793275"/>
            <a:ext cx="2608200" cy="3350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8"/>
              <a:buNone/>
            </a:pPr>
            <a:r>
              <a:rPr lang="en" sz="2050"/>
              <a:t>Model 3 represents variables that have to do with weather and see what effect that they have on the total energy usage for the month.</a:t>
            </a:r>
            <a:endParaRPr sz="2050"/>
          </a:p>
          <a:p>
            <a:pPr indent="0" lvl="0" marL="0" rtl="0" algn="l">
              <a:lnSpc>
                <a:spcPct val="100000"/>
              </a:lnSpc>
              <a:spcBef>
                <a:spcPts val="1200"/>
              </a:spcBef>
              <a:spcAft>
                <a:spcPts val="1200"/>
              </a:spcAft>
              <a:buSzPts val="358"/>
              <a:buNone/>
            </a:pPr>
            <a:r>
              <a:t/>
            </a:r>
            <a:endParaRPr sz="650"/>
          </a:p>
        </p:txBody>
      </p:sp>
      <p:pic>
        <p:nvPicPr>
          <p:cNvPr id="175" name="Google Shape;175;p19"/>
          <p:cNvPicPr preferRelativeResize="0"/>
          <p:nvPr/>
        </p:nvPicPr>
        <p:blipFill>
          <a:blip r:embed="rId3">
            <a:alphaModFix/>
          </a:blip>
          <a:stretch>
            <a:fillRect/>
          </a:stretch>
        </p:blipFill>
        <p:spPr>
          <a:xfrm>
            <a:off x="3263725" y="1741600"/>
            <a:ext cx="5880275" cy="3401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1297500" y="393750"/>
            <a:ext cx="7038900" cy="67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4: Refined Comprehensive</a:t>
            </a:r>
            <a:endParaRPr/>
          </a:p>
        </p:txBody>
      </p:sp>
      <p:sp>
        <p:nvSpPr>
          <p:cNvPr id="181" name="Google Shape;181;p20"/>
          <p:cNvSpPr txBox="1"/>
          <p:nvPr>
            <p:ph idx="1" type="body"/>
          </p:nvPr>
        </p:nvSpPr>
        <p:spPr>
          <a:xfrm>
            <a:off x="347125" y="1417825"/>
            <a:ext cx="2409300" cy="3438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600"/>
              <a:t>Heating/Cooling Setpoints</a:t>
            </a:r>
            <a:endParaRPr sz="1600"/>
          </a:p>
          <a:p>
            <a:pPr indent="0" lvl="0" marL="0" rtl="0" algn="l">
              <a:lnSpc>
                <a:spcPct val="95000"/>
              </a:lnSpc>
              <a:spcBef>
                <a:spcPts val="1200"/>
              </a:spcBef>
              <a:spcAft>
                <a:spcPts val="0"/>
              </a:spcAft>
              <a:buSzPts val="275"/>
              <a:buNone/>
            </a:pPr>
            <a:r>
              <a:rPr lang="en" sz="1600"/>
              <a:t>Ducted Heating &amp; No Cooling</a:t>
            </a:r>
            <a:endParaRPr sz="1600"/>
          </a:p>
          <a:p>
            <a:pPr indent="0" lvl="0" marL="0" rtl="0" algn="l">
              <a:lnSpc>
                <a:spcPct val="95000"/>
              </a:lnSpc>
              <a:spcBef>
                <a:spcPts val="1200"/>
              </a:spcBef>
              <a:spcAft>
                <a:spcPts val="0"/>
              </a:spcAft>
              <a:buSzPts val="275"/>
              <a:buNone/>
            </a:pPr>
            <a:r>
              <a:rPr lang="en" sz="1600"/>
              <a:t>Larger Building = Higher Electricity Usage</a:t>
            </a:r>
            <a:endParaRPr sz="1600"/>
          </a:p>
          <a:p>
            <a:pPr indent="0" lvl="0" marL="0" rtl="0" algn="l">
              <a:lnSpc>
                <a:spcPct val="95000"/>
              </a:lnSpc>
              <a:spcBef>
                <a:spcPts val="1200"/>
              </a:spcBef>
              <a:spcAft>
                <a:spcPts val="0"/>
              </a:spcAft>
              <a:buSzPts val="275"/>
              <a:buNone/>
            </a:pPr>
            <a:r>
              <a:rPr lang="en" sz="1600"/>
              <a:t>Clothes Washer, Plug Loads, Lighting Interior, Refrigerator, Hot Water, and Range Oven</a:t>
            </a:r>
            <a:endParaRPr sz="1600"/>
          </a:p>
          <a:p>
            <a:pPr indent="0" lvl="0" marL="0" rtl="0" algn="l">
              <a:lnSpc>
                <a:spcPct val="95000"/>
              </a:lnSpc>
              <a:spcBef>
                <a:spcPts val="1200"/>
              </a:spcBef>
              <a:spcAft>
                <a:spcPts val="1200"/>
              </a:spcAft>
              <a:buSzPts val="275"/>
              <a:buNone/>
            </a:pPr>
            <a:r>
              <a:t/>
            </a:r>
            <a:endParaRPr sz="1600"/>
          </a:p>
        </p:txBody>
      </p:sp>
      <p:pic>
        <p:nvPicPr>
          <p:cNvPr id="182" name="Google Shape;182;p20"/>
          <p:cNvPicPr preferRelativeResize="0"/>
          <p:nvPr/>
        </p:nvPicPr>
        <p:blipFill>
          <a:blip r:embed="rId3">
            <a:alphaModFix/>
          </a:blip>
          <a:stretch>
            <a:fillRect/>
          </a:stretch>
        </p:blipFill>
        <p:spPr>
          <a:xfrm>
            <a:off x="3065675" y="1377212"/>
            <a:ext cx="5819174" cy="3291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21"/>
          <p:cNvPicPr preferRelativeResize="0"/>
          <p:nvPr/>
        </p:nvPicPr>
        <p:blipFill>
          <a:blip r:embed="rId3">
            <a:alphaModFix/>
          </a:blip>
          <a:stretch>
            <a:fillRect/>
          </a:stretch>
        </p:blipFill>
        <p:spPr>
          <a:xfrm>
            <a:off x="3248950" y="212000"/>
            <a:ext cx="4983000" cy="4719500"/>
          </a:xfrm>
          <a:prstGeom prst="rect">
            <a:avLst/>
          </a:prstGeom>
          <a:noFill/>
          <a:ln>
            <a:noFill/>
          </a:ln>
        </p:spPr>
      </p:pic>
      <p:sp>
        <p:nvSpPr>
          <p:cNvPr id="188" name="Google Shape;188;p21"/>
          <p:cNvSpPr txBox="1"/>
          <p:nvPr>
            <p:ph idx="1" type="body"/>
          </p:nvPr>
        </p:nvSpPr>
        <p:spPr>
          <a:xfrm>
            <a:off x="442925" y="1935050"/>
            <a:ext cx="2409300" cy="1871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600"/>
              <a:t>Cooling Setpoints  = More Energy Usage</a:t>
            </a:r>
            <a:endParaRPr sz="1600"/>
          </a:p>
          <a:p>
            <a:pPr indent="0" lvl="0" marL="0" rtl="0" algn="l">
              <a:lnSpc>
                <a:spcPct val="95000"/>
              </a:lnSpc>
              <a:spcBef>
                <a:spcPts val="1200"/>
              </a:spcBef>
              <a:spcAft>
                <a:spcPts val="0"/>
              </a:spcAft>
              <a:buSzPts val="275"/>
              <a:buNone/>
            </a:pPr>
            <a:r>
              <a:rPr lang="en" sz="1600"/>
              <a:t>Lower Heating = Less Energy Usage</a:t>
            </a:r>
            <a:endParaRPr sz="1600"/>
          </a:p>
          <a:p>
            <a:pPr indent="0" lvl="0" marL="0" rtl="0" algn="l">
              <a:lnSpc>
                <a:spcPct val="95000"/>
              </a:lnSpc>
              <a:spcBef>
                <a:spcPts val="1200"/>
              </a:spcBef>
              <a:spcAft>
                <a:spcPts val="1200"/>
              </a:spcAft>
              <a:buSzPts val="275"/>
              <a:buNone/>
            </a:pPr>
            <a:r>
              <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5: Full Comprehensive</a:t>
            </a:r>
            <a:endParaRPr/>
          </a:p>
        </p:txBody>
      </p:sp>
      <p:pic>
        <p:nvPicPr>
          <p:cNvPr id="194" name="Google Shape;194;p22"/>
          <p:cNvPicPr preferRelativeResize="0"/>
          <p:nvPr/>
        </p:nvPicPr>
        <p:blipFill>
          <a:blip r:embed="rId3">
            <a:alphaModFix/>
          </a:blip>
          <a:stretch>
            <a:fillRect/>
          </a:stretch>
        </p:blipFill>
        <p:spPr>
          <a:xfrm>
            <a:off x="2956256" y="1418225"/>
            <a:ext cx="6043430" cy="3291950"/>
          </a:xfrm>
          <a:prstGeom prst="rect">
            <a:avLst/>
          </a:prstGeom>
          <a:noFill/>
          <a:ln>
            <a:noFill/>
          </a:ln>
        </p:spPr>
      </p:pic>
      <p:sp>
        <p:nvSpPr>
          <p:cNvPr id="195" name="Google Shape;195;p22"/>
          <p:cNvSpPr txBox="1"/>
          <p:nvPr>
            <p:ph idx="1" type="body"/>
          </p:nvPr>
        </p:nvSpPr>
        <p:spPr>
          <a:xfrm>
            <a:off x="347125" y="1417825"/>
            <a:ext cx="2409300" cy="2179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600"/>
              <a:t>17 Singularities</a:t>
            </a:r>
            <a:endParaRPr sz="1600"/>
          </a:p>
          <a:p>
            <a:pPr indent="0" lvl="0" marL="0" rtl="0" algn="l">
              <a:lnSpc>
                <a:spcPct val="95000"/>
              </a:lnSpc>
              <a:spcBef>
                <a:spcPts val="1200"/>
              </a:spcBef>
              <a:spcAft>
                <a:spcPts val="1200"/>
              </a:spcAft>
              <a:buSzPts val="275"/>
              <a:buNone/>
            </a:pPr>
            <a:r>
              <a:rPr b="1" lang="en" sz="1600"/>
              <a:t>NOT </a:t>
            </a:r>
            <a:r>
              <a:rPr lang="en" sz="1600"/>
              <a:t>An Effective Model</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6: Adding 5 Degrees</a:t>
            </a:r>
            <a:endParaRPr/>
          </a:p>
        </p:txBody>
      </p:sp>
      <p:pic>
        <p:nvPicPr>
          <p:cNvPr id="201" name="Google Shape;201;p23"/>
          <p:cNvPicPr preferRelativeResize="0"/>
          <p:nvPr/>
        </p:nvPicPr>
        <p:blipFill>
          <a:blip r:embed="rId3">
            <a:alphaModFix/>
          </a:blip>
          <a:stretch>
            <a:fillRect/>
          </a:stretch>
        </p:blipFill>
        <p:spPr>
          <a:xfrm>
            <a:off x="3065675" y="1362825"/>
            <a:ext cx="5928601" cy="3306325"/>
          </a:xfrm>
          <a:prstGeom prst="rect">
            <a:avLst/>
          </a:prstGeom>
          <a:noFill/>
          <a:ln>
            <a:noFill/>
          </a:ln>
        </p:spPr>
      </p:pic>
      <p:sp>
        <p:nvSpPr>
          <p:cNvPr id="202" name="Google Shape;202;p23"/>
          <p:cNvSpPr txBox="1"/>
          <p:nvPr>
            <p:ph idx="1" type="body"/>
          </p:nvPr>
        </p:nvSpPr>
        <p:spPr>
          <a:xfrm>
            <a:off x="367650" y="1932838"/>
            <a:ext cx="2409300" cy="2166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275"/>
              <a:buNone/>
            </a:pPr>
            <a:r>
              <a:rPr lang="en" sz="1600"/>
              <a:t>Temperature Does </a:t>
            </a:r>
            <a:r>
              <a:rPr b="1" lang="en" sz="1600"/>
              <a:t>NOT </a:t>
            </a:r>
            <a:r>
              <a:rPr lang="en" sz="1600"/>
              <a:t>Have A Significant Effect On Electricity Usage</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PREDICTING PEAK AND FUTURE DEMAND</a:t>
            </a:r>
            <a:endParaRPr/>
          </a:p>
          <a:p>
            <a:pPr indent="0" lvl="0" marL="0" rtl="0" algn="l">
              <a:spcBef>
                <a:spcPts val="0"/>
              </a:spcBef>
              <a:spcAft>
                <a:spcPts val="0"/>
              </a:spcAft>
              <a:buNone/>
            </a:pPr>
            <a:r>
              <a:t/>
            </a:r>
            <a:endParaRPr/>
          </a:p>
        </p:txBody>
      </p:sp>
      <p:pic>
        <p:nvPicPr>
          <p:cNvPr id="208" name="Google Shape;208;p24"/>
          <p:cNvPicPr preferRelativeResize="0"/>
          <p:nvPr/>
        </p:nvPicPr>
        <p:blipFill>
          <a:blip r:embed="rId3">
            <a:alphaModFix/>
          </a:blip>
          <a:stretch>
            <a:fillRect/>
          </a:stretch>
        </p:blipFill>
        <p:spPr>
          <a:xfrm>
            <a:off x="3125875" y="1184725"/>
            <a:ext cx="5411724" cy="3477725"/>
          </a:xfrm>
          <a:prstGeom prst="rect">
            <a:avLst/>
          </a:prstGeom>
          <a:noFill/>
          <a:ln>
            <a:noFill/>
          </a:ln>
        </p:spPr>
      </p:pic>
      <p:sp>
        <p:nvSpPr>
          <p:cNvPr id="209" name="Google Shape;209;p24"/>
          <p:cNvSpPr txBox="1"/>
          <p:nvPr>
            <p:ph idx="1" type="body"/>
          </p:nvPr>
        </p:nvSpPr>
        <p:spPr>
          <a:xfrm>
            <a:off x="347125" y="1417825"/>
            <a:ext cx="2409300" cy="3438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600"/>
              <a:t>Model 4</a:t>
            </a:r>
            <a:endParaRPr sz="1600"/>
          </a:p>
          <a:p>
            <a:pPr indent="0" lvl="0" marL="0" rtl="0" algn="l">
              <a:lnSpc>
                <a:spcPct val="95000"/>
              </a:lnSpc>
              <a:spcBef>
                <a:spcPts val="1200"/>
              </a:spcBef>
              <a:spcAft>
                <a:spcPts val="0"/>
              </a:spcAft>
              <a:buNone/>
            </a:pPr>
            <a:r>
              <a:rPr lang="en" sz="1600"/>
              <a:t>Peak Demand: 2287.721 kWh</a:t>
            </a:r>
            <a:endParaRPr sz="1600"/>
          </a:p>
          <a:p>
            <a:pPr indent="0" lvl="0" marL="0" rtl="0" algn="l">
              <a:lnSpc>
                <a:spcPct val="95000"/>
              </a:lnSpc>
              <a:spcBef>
                <a:spcPts val="1200"/>
              </a:spcBef>
              <a:spcAft>
                <a:spcPts val="1200"/>
              </a:spcAft>
              <a:buNone/>
            </a:pPr>
            <a:r>
              <a:rPr lang="en" sz="1600"/>
              <a:t>Near the end of the month.</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Variables and Their Impacts:</a:t>
            </a:r>
            <a:endParaRPr/>
          </a:p>
          <a:p>
            <a:pPr indent="0" lvl="0" marL="0" rtl="0" algn="l">
              <a:spcBef>
                <a:spcPts val="0"/>
              </a:spcBef>
              <a:spcAft>
                <a:spcPts val="0"/>
              </a:spcAft>
              <a:buNone/>
            </a:pPr>
            <a:r>
              <a:t/>
            </a:r>
            <a:endParaRPr/>
          </a:p>
        </p:txBody>
      </p:sp>
      <p:sp>
        <p:nvSpPr>
          <p:cNvPr id="215" name="Google Shape;215;p25"/>
          <p:cNvSpPr txBox="1"/>
          <p:nvPr>
            <p:ph idx="1" type="body"/>
          </p:nvPr>
        </p:nvSpPr>
        <p:spPr>
          <a:xfrm>
            <a:off x="1094350" y="1184525"/>
            <a:ext cx="7782300" cy="343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605"/>
              <a:buNone/>
            </a:pPr>
            <a:r>
              <a:rPr lang="en" sz="1115"/>
              <a:t>HVAC and Setpoints:</a:t>
            </a:r>
            <a:endParaRPr sz="1115"/>
          </a:p>
          <a:p>
            <a:pPr indent="0" lvl="0" marL="0" rtl="0" algn="l">
              <a:spcBef>
                <a:spcPts val="1200"/>
              </a:spcBef>
              <a:spcAft>
                <a:spcPts val="0"/>
              </a:spcAft>
              <a:buSzPts val="605"/>
              <a:buNone/>
            </a:pPr>
            <a:r>
              <a:rPr lang="en" sz="1115"/>
              <a:t>Cooling Setpoints: Higher cooling setpoints generally have positive coefficients, indicating an increase in electricity usage as the temperature setpoint is raised.</a:t>
            </a:r>
            <a:endParaRPr sz="1115"/>
          </a:p>
          <a:p>
            <a:pPr indent="0" lvl="0" marL="0" rtl="0" algn="l">
              <a:spcBef>
                <a:spcPts val="1200"/>
              </a:spcBef>
              <a:spcAft>
                <a:spcPts val="0"/>
              </a:spcAft>
              <a:buSzPts val="605"/>
              <a:buNone/>
            </a:pPr>
            <a:r>
              <a:rPr lang="en" sz="1115"/>
              <a:t>Heating Setpoints: Conversely, some heating setpoints have negative impacts, which could reflect energy savings from lower heating demands at certain thresholds.</a:t>
            </a:r>
            <a:endParaRPr sz="1115"/>
          </a:p>
          <a:p>
            <a:pPr indent="0" lvl="0" marL="0" rtl="0" algn="l">
              <a:spcBef>
                <a:spcPts val="1200"/>
              </a:spcBef>
              <a:spcAft>
                <a:spcPts val="0"/>
              </a:spcAft>
              <a:buSzPts val="605"/>
              <a:buNone/>
            </a:pPr>
            <a:r>
              <a:rPr lang="en" sz="1115"/>
              <a:t>Floor Area:</a:t>
            </a:r>
            <a:endParaRPr sz="1115"/>
          </a:p>
          <a:p>
            <a:pPr indent="0" lvl="0" marL="0" rtl="0" algn="l">
              <a:spcBef>
                <a:spcPts val="1200"/>
              </a:spcBef>
              <a:spcAft>
                <a:spcPts val="0"/>
              </a:spcAft>
              <a:buSzPts val="605"/>
              <a:buNone/>
            </a:pPr>
            <a:r>
              <a:rPr lang="en" sz="1115"/>
              <a:t>Smaller Areas: Certain smaller floor areas appear to have positive impacts on electricity usage, perhaps due to less efficient energy use or different lifestyle patterns.</a:t>
            </a:r>
            <a:endParaRPr sz="1115"/>
          </a:p>
          <a:p>
            <a:pPr indent="0" lvl="0" marL="0" rtl="0" algn="l">
              <a:spcBef>
                <a:spcPts val="1200"/>
              </a:spcBef>
              <a:spcAft>
                <a:spcPts val="0"/>
              </a:spcAft>
              <a:buSzPts val="605"/>
              <a:buNone/>
            </a:pPr>
            <a:r>
              <a:rPr lang="en" sz="1115"/>
              <a:t>Larger Areas: Some larger floor areas have negative coefficients, suggesting more efficient energy use or different usage patterns that lead to lower relative electricity consumption.</a:t>
            </a:r>
            <a:endParaRPr sz="1115"/>
          </a:p>
          <a:p>
            <a:pPr indent="0" lvl="0" marL="0" rtl="0" algn="l">
              <a:spcBef>
                <a:spcPts val="1200"/>
              </a:spcBef>
              <a:spcAft>
                <a:spcPts val="0"/>
              </a:spcAft>
              <a:buSzPts val="605"/>
              <a:buNone/>
            </a:pPr>
            <a:r>
              <a:rPr lang="en" sz="1115"/>
              <a:t>Appliance Usage:</a:t>
            </a:r>
            <a:endParaRPr sz="1115"/>
          </a:p>
          <a:p>
            <a:pPr indent="0" lvl="0" marL="0" rtl="0" algn="l">
              <a:spcBef>
                <a:spcPts val="1200"/>
              </a:spcBef>
              <a:spcAft>
                <a:spcPts val="0"/>
              </a:spcAft>
              <a:buSzPts val="605"/>
              <a:buNone/>
            </a:pPr>
            <a:r>
              <a:rPr lang="en" sz="1115"/>
              <a:t>Specific Appliances: The energy consumption totals for appliances like clothes washers, dishwashers, and cooling systems are significant predictors of total electricity usage, with some contributing positively and others negatively.</a:t>
            </a:r>
            <a:endParaRPr sz="1115"/>
          </a:p>
          <a:p>
            <a:pPr indent="0" lvl="0" marL="0" rtl="0" algn="l">
              <a:spcBef>
                <a:spcPts val="1200"/>
              </a:spcBef>
              <a:spcAft>
                <a:spcPts val="1200"/>
              </a:spcAft>
              <a:buSzPts val="605"/>
              <a:buNone/>
            </a:pPr>
            <a:r>
              <a:t/>
            </a:r>
            <a:endParaRPr sz="1115"/>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type="title"/>
          </p:nvPr>
        </p:nvSpPr>
        <p:spPr>
          <a:xfrm>
            <a:off x="1297500" y="393750"/>
            <a:ext cx="7038900" cy="55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Practical Implications:</a:t>
            </a:r>
            <a:endParaRPr/>
          </a:p>
        </p:txBody>
      </p:sp>
      <p:sp>
        <p:nvSpPr>
          <p:cNvPr id="221" name="Google Shape;221;p2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Energy Management: Understanding these relationships helps in managing energy more effectively, particularly by focusing on modifying setpoints and managing appliance use.</a:t>
            </a:r>
            <a:endParaRPr/>
          </a:p>
          <a:p>
            <a:pPr indent="0" lvl="0" marL="0" rtl="0" algn="l">
              <a:spcBef>
                <a:spcPts val="1200"/>
              </a:spcBef>
              <a:spcAft>
                <a:spcPts val="0"/>
              </a:spcAft>
              <a:buNone/>
            </a:pPr>
            <a:r>
              <a:rPr lang="en"/>
              <a:t>Policy and Planning: Insights from this analysis can inform building codes, energy efficiency standards, and incentives for using energy-efficient appliances.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